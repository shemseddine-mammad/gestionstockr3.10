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oco Gothic Bold" charset="1" panose="00000000000000000000"/>
      <p:regular r:id="rId24"/>
    </p:embeddedFont>
    <p:embeddedFont>
      <p:font typeface="Poppins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274060"/>
            <a:ext cx="16230600" cy="3738881"/>
            <a:chOff x="0" y="0"/>
            <a:chExt cx="21640800" cy="498517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38125"/>
              <a:ext cx="21640800" cy="4623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b="true" sz="9999">
                  <a:solidFill>
                    <a:srgbClr val="FFD21B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MINI-PROJET : GESTIONSTOCK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651532" y="4423834"/>
              <a:ext cx="10337735" cy="561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0"/>
                </a:lnSpc>
              </a:pPr>
              <a:r>
                <a:rPr lang="en-US" b="true" sz="3000">
                  <a:solidFill>
                    <a:srgbClr val="FFFDF7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 MARIADB SÉCURISÉ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71006" y="1565035"/>
            <a:ext cx="677898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71006" y="2942985"/>
            <a:ext cx="701041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47864" y="4320935"/>
            <a:ext cx="724184" cy="8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72047" y="1565035"/>
            <a:ext cx="12221211" cy="90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CRÉATION DE LA BASE + SCHÉMA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2047" y="2942985"/>
            <a:ext cx="8536484" cy="90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 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48904" y="4320935"/>
            <a:ext cx="11084275" cy="1794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GESTION DES UTILISATEURS &amp; PRIVILÈGES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71006" y="6725468"/>
            <a:ext cx="11785315" cy="767292"/>
            <a:chOff x="0" y="0"/>
            <a:chExt cx="15713754" cy="102305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33350"/>
              <a:ext cx="965578" cy="1156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b="true">
                  <a:solidFill>
                    <a:srgbClr val="FFD21B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4.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34721" y="-133350"/>
              <a:ext cx="14779033" cy="1156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b="true">
                  <a:solidFill>
                    <a:srgbClr val="FFFDF7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 TESTS DE DROITS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71006" y="8102360"/>
            <a:ext cx="11785315" cy="767292"/>
            <a:chOff x="0" y="0"/>
            <a:chExt cx="15713754" cy="102305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33350"/>
              <a:ext cx="965578" cy="1156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b="true">
                  <a:solidFill>
                    <a:srgbClr val="FFD21B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5.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34721" y="-133350"/>
              <a:ext cx="14779033" cy="1156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b="true">
                  <a:solidFill>
                    <a:srgbClr val="FFFDF7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SAUVEGARDE / RESTAURATION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2685051" cy="1446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051" cy="1446825"/>
            </a:xfrm>
            <a:custGeom>
              <a:avLst/>
              <a:gdLst/>
              <a:ahLst/>
              <a:cxnLst/>
              <a:rect r="r" b="b" t="t" l="l"/>
              <a:pathLst>
                <a:path h="1446825" w="2685051">
                  <a:moveTo>
                    <a:pt x="0" y="0"/>
                  </a:moveTo>
                  <a:lnTo>
                    <a:pt x="2685051" y="0"/>
                  </a:lnTo>
                  <a:lnTo>
                    <a:pt x="2685051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0" t="-89273" r="0" b="-892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5106" y="3795183"/>
            <a:ext cx="12377788" cy="250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1. CRÉATION DE LA BASE + SCHÉMA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4000" y="2363669"/>
            <a:ext cx="8835297" cy="5789415"/>
          </a:xfrm>
          <a:custGeom>
            <a:avLst/>
            <a:gdLst/>
            <a:ahLst/>
            <a:cxnLst/>
            <a:rect r="r" b="b" t="t" l="l"/>
            <a:pathLst>
              <a:path h="5789415" w="8835297">
                <a:moveTo>
                  <a:pt x="0" y="0"/>
                </a:moveTo>
                <a:lnTo>
                  <a:pt x="8835297" y="0"/>
                </a:lnTo>
                <a:lnTo>
                  <a:pt x="8835297" y="5789415"/>
                </a:lnTo>
                <a:lnTo>
                  <a:pt x="0" y="578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85122"/>
            <a:ext cx="7708678" cy="134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CRÉATION DE LA BASE + SCHÉMA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591766"/>
            <a:ext cx="7708678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DF7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Produit : Stock central (Prix DECIMAL, Clé Étrangère).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DF7"/>
                </a:solidFill>
                <a:latin typeface="Poppins Light"/>
                <a:ea typeface="Poppins Light"/>
                <a:cs typeface="Poppins Light"/>
                <a:sym typeface="Poppins Light"/>
              </a:rPr>
              <a:t> TypeProduit : Catégorisation normalisée.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DF7"/>
                </a:solidFill>
                <a:latin typeface="Poppins Light"/>
                <a:ea typeface="Poppins Light"/>
                <a:cs typeface="Poppins Light"/>
                <a:sym typeface="Poppins Light"/>
              </a:rPr>
              <a:t> User : Gestion des utilisateurs applicatifs.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DF7"/>
                </a:solidFill>
                <a:latin typeface="Poppins Light"/>
                <a:ea typeface="Poppins Light"/>
                <a:cs typeface="Poppins Light"/>
                <a:sym typeface="Poppins Light"/>
              </a:rPr>
              <a:t> Facture : Historique des ventes.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768917" y="3681437"/>
            <a:ext cx="7490383" cy="5253671"/>
          </a:xfrm>
          <a:custGeom>
            <a:avLst/>
            <a:gdLst/>
            <a:ahLst/>
            <a:cxnLst/>
            <a:rect r="r" b="b" t="t" l="l"/>
            <a:pathLst>
              <a:path h="5253671" w="7490383">
                <a:moveTo>
                  <a:pt x="0" y="0"/>
                </a:moveTo>
                <a:lnTo>
                  <a:pt x="7490383" y="0"/>
                </a:lnTo>
                <a:lnTo>
                  <a:pt x="7490383" y="5253671"/>
                </a:lnTo>
                <a:lnTo>
                  <a:pt x="0" y="525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285" y="5886129"/>
            <a:ext cx="9594632" cy="3048979"/>
          </a:xfrm>
          <a:custGeom>
            <a:avLst/>
            <a:gdLst/>
            <a:ahLst/>
            <a:cxnLst/>
            <a:rect r="r" b="b" t="t" l="l"/>
            <a:pathLst>
              <a:path h="3048979" w="9594632">
                <a:moveTo>
                  <a:pt x="0" y="0"/>
                </a:moveTo>
                <a:lnTo>
                  <a:pt x="9594632" y="0"/>
                </a:lnTo>
                <a:lnTo>
                  <a:pt x="9594632" y="3048979"/>
                </a:lnTo>
                <a:lnTo>
                  <a:pt x="0" y="304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185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285" y="2811879"/>
            <a:ext cx="9471127" cy="3074250"/>
          </a:xfrm>
          <a:custGeom>
            <a:avLst/>
            <a:gdLst/>
            <a:ahLst/>
            <a:cxnLst/>
            <a:rect r="r" b="b" t="t" l="l"/>
            <a:pathLst>
              <a:path h="3074250" w="9471127">
                <a:moveTo>
                  <a:pt x="0" y="0"/>
                </a:moveTo>
                <a:lnTo>
                  <a:pt x="9471127" y="0"/>
                </a:lnTo>
                <a:lnTo>
                  <a:pt x="9471127" y="3074250"/>
                </a:lnTo>
                <a:lnTo>
                  <a:pt x="0" y="3074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97" r="0" b="-149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4867" y="1585856"/>
            <a:ext cx="1307826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CRÉATION DE LA BASE + SCHÉMA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846256" y="3452029"/>
            <a:ext cx="8963325" cy="4679466"/>
          </a:xfrm>
          <a:custGeom>
            <a:avLst/>
            <a:gdLst/>
            <a:ahLst/>
            <a:cxnLst/>
            <a:rect r="r" b="b" t="t" l="l"/>
            <a:pathLst>
              <a:path h="4679466" w="8963325">
                <a:moveTo>
                  <a:pt x="0" y="0"/>
                </a:moveTo>
                <a:lnTo>
                  <a:pt x="8963326" y="0"/>
                </a:lnTo>
                <a:lnTo>
                  <a:pt x="8963326" y="4679466"/>
                </a:lnTo>
                <a:lnTo>
                  <a:pt x="0" y="4679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8362" y="7299897"/>
            <a:ext cx="6324193" cy="2513003"/>
          </a:xfrm>
          <a:custGeom>
            <a:avLst/>
            <a:gdLst/>
            <a:ahLst/>
            <a:cxnLst/>
            <a:rect r="r" b="b" t="t" l="l"/>
            <a:pathLst>
              <a:path h="2513003" w="6324193">
                <a:moveTo>
                  <a:pt x="0" y="0"/>
                </a:moveTo>
                <a:lnTo>
                  <a:pt x="6324193" y="0"/>
                </a:lnTo>
                <a:lnTo>
                  <a:pt x="6324193" y="2513004"/>
                </a:lnTo>
                <a:lnTo>
                  <a:pt x="0" y="2513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432" y="4102967"/>
            <a:ext cx="8320053" cy="2547198"/>
          </a:xfrm>
          <a:custGeom>
            <a:avLst/>
            <a:gdLst/>
            <a:ahLst/>
            <a:cxnLst/>
            <a:rect r="r" b="b" t="t" l="l"/>
            <a:pathLst>
              <a:path h="2547198" w="8320053">
                <a:moveTo>
                  <a:pt x="0" y="0"/>
                </a:moveTo>
                <a:lnTo>
                  <a:pt x="8320053" y="0"/>
                </a:lnTo>
                <a:lnTo>
                  <a:pt x="8320053" y="2547198"/>
                </a:lnTo>
                <a:lnTo>
                  <a:pt x="0" y="2547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09090" y="1719795"/>
            <a:ext cx="104698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CRÉATION DE LA BASE + SCHÉMA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53919" y="3027586"/>
            <a:ext cx="2310342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TABLE USER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13563" y="2592579"/>
            <a:ext cx="3020351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TABLE PRODUIT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67392" y="6674993"/>
            <a:ext cx="398819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TABLE TYPEPRODUIT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2685051" cy="1446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051" cy="1446825"/>
            </a:xfrm>
            <a:custGeom>
              <a:avLst/>
              <a:gdLst/>
              <a:ahLst/>
              <a:cxnLst/>
              <a:rect r="r" b="b" t="t" l="l"/>
              <a:pathLst>
                <a:path h="1446825" w="2685051">
                  <a:moveTo>
                    <a:pt x="0" y="0"/>
                  </a:moveTo>
                  <a:lnTo>
                    <a:pt x="2685051" y="0"/>
                  </a:lnTo>
                  <a:lnTo>
                    <a:pt x="2685051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0" t="-11822" r="0" b="-118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95704" y="4273645"/>
            <a:ext cx="12096591" cy="125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2. REQUÊTES SQL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7062"/>
            <a:ext cx="18288000" cy="5139938"/>
            <a:chOff x="0" y="0"/>
            <a:chExt cx="4816593" cy="135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3729"/>
            </a:xfrm>
            <a:custGeom>
              <a:avLst/>
              <a:gdLst/>
              <a:ahLst/>
              <a:cxnLst/>
              <a:rect r="r" b="b" t="t" l="l"/>
              <a:pathLst>
                <a:path h="1353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3729"/>
                  </a:lnTo>
                  <a:lnTo>
                    <a:pt x="0" y="1353729"/>
                  </a:lnTo>
                  <a:close/>
                </a:path>
              </a:pathLst>
            </a:custGeom>
            <a:solidFill>
              <a:srgbClr val="2428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334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9" id="9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REALLY GREAT COMPANY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2032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84816" y="2677514"/>
            <a:ext cx="4318368" cy="6291682"/>
            <a:chOff x="0" y="0"/>
            <a:chExt cx="1137348" cy="16570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7348" cy="1657069"/>
            </a:xfrm>
            <a:custGeom>
              <a:avLst/>
              <a:gdLst/>
              <a:ahLst/>
              <a:cxnLst/>
              <a:rect r="r" b="b" t="t" l="l"/>
              <a:pathLst>
                <a:path h="1657069" w="1137348">
                  <a:moveTo>
                    <a:pt x="0" y="0"/>
                  </a:moveTo>
                  <a:lnTo>
                    <a:pt x="1137348" y="0"/>
                  </a:lnTo>
                  <a:lnTo>
                    <a:pt x="1137348" y="1657069"/>
                  </a:lnTo>
                  <a:lnTo>
                    <a:pt x="0" y="165706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137348" cy="1638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11251" y="2883860"/>
            <a:ext cx="4035112" cy="5878989"/>
            <a:chOff x="0" y="0"/>
            <a:chExt cx="1137348" cy="16570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7348" cy="1657069"/>
            </a:xfrm>
            <a:custGeom>
              <a:avLst/>
              <a:gdLst/>
              <a:ahLst/>
              <a:cxnLst/>
              <a:rect r="r" b="b" t="t" l="l"/>
              <a:pathLst>
                <a:path h="1657069" w="1137348">
                  <a:moveTo>
                    <a:pt x="0" y="0"/>
                  </a:moveTo>
                  <a:lnTo>
                    <a:pt x="1137348" y="0"/>
                  </a:lnTo>
                  <a:lnTo>
                    <a:pt x="1137348" y="1657069"/>
                  </a:lnTo>
                  <a:lnTo>
                    <a:pt x="0" y="165706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137348" cy="1638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44904" y="2883860"/>
            <a:ext cx="4035112" cy="5878989"/>
            <a:chOff x="0" y="0"/>
            <a:chExt cx="1137348" cy="16570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7348" cy="1657069"/>
            </a:xfrm>
            <a:custGeom>
              <a:avLst/>
              <a:gdLst/>
              <a:ahLst/>
              <a:cxnLst/>
              <a:rect r="r" b="b" t="t" l="l"/>
              <a:pathLst>
                <a:path h="1657069" w="1137348">
                  <a:moveTo>
                    <a:pt x="0" y="0"/>
                  </a:moveTo>
                  <a:lnTo>
                    <a:pt x="1137348" y="0"/>
                  </a:lnTo>
                  <a:lnTo>
                    <a:pt x="1137348" y="1657069"/>
                  </a:lnTo>
                  <a:lnTo>
                    <a:pt x="0" y="165706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137348" cy="1638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09090" y="1719795"/>
            <a:ext cx="104698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 SQL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84816" y="5213737"/>
            <a:ext cx="431836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500">
                <a:solidFill>
                  <a:srgbClr val="FFB8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GROUP BY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48508" y="5291104"/>
            <a:ext cx="4025639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500">
                <a:solidFill>
                  <a:srgbClr val="FFB8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SOMME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20723" y="5291104"/>
            <a:ext cx="4025639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500">
                <a:solidFill>
                  <a:srgbClr val="FFB8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MAXIMUM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84816" y="4803754"/>
            <a:ext cx="43183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3000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48508" y="4976265"/>
            <a:ext cx="4025639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</a:pPr>
            <a:r>
              <a:rPr lang="en-US" b="true" sz="2299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20723" y="4976265"/>
            <a:ext cx="4025639" cy="31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7"/>
              </a:lnSpc>
            </a:pPr>
            <a:r>
              <a:rPr lang="en-US" b="true" sz="2299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02503" y="6441509"/>
            <a:ext cx="370606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2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SELECT SUM(stock * prix) AS 'Valeur Totale du Stock (€)' </a:t>
            </a:r>
          </a:p>
          <a:p>
            <a:pPr algn="ctr">
              <a:lnSpc>
                <a:spcPts val="2223"/>
              </a:lnSpc>
            </a:pPr>
            <a:r>
              <a:rPr lang="en-US" sz="1852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FROM produit;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53952" y="6451034"/>
            <a:ext cx="3980097" cy="204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SELECT t.libelle AS 'Type de Produit', COUNT(p.id) AS 'Nombre de Produits'</a:t>
            </a:r>
          </a:p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FROM typeProduit t</a:t>
            </a:r>
          </a:p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JOIN produit p ON t.id = p.id_type</a:t>
            </a:r>
          </a:p>
          <a:p>
            <a:pPr algn="ctr">
              <a:lnSpc>
                <a:spcPts val="2291"/>
              </a:lnSpc>
            </a:pPr>
            <a:r>
              <a:rPr lang="en-US" sz="1909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GROUP BY t.libelle;</a:t>
            </a:r>
          </a:p>
          <a:p>
            <a:pPr algn="ctr">
              <a:lnSpc>
                <a:spcPts val="229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1701095" y="6441509"/>
            <a:ext cx="3945267" cy="117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1"/>
              </a:lnSpc>
            </a:pPr>
            <a:r>
              <a:rPr lang="en-US" sz="1893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SELECT nom, prix </a:t>
            </a:r>
          </a:p>
          <a:p>
            <a:pPr algn="ctr">
              <a:lnSpc>
                <a:spcPts val="2271"/>
              </a:lnSpc>
            </a:pPr>
            <a:r>
              <a:rPr lang="en-US" sz="1893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FROM produit </a:t>
            </a:r>
          </a:p>
          <a:p>
            <a:pPr algn="ctr">
              <a:lnSpc>
                <a:spcPts val="2271"/>
              </a:lnSpc>
            </a:pPr>
            <a:r>
              <a:rPr lang="en-US" sz="1893">
                <a:solidFill>
                  <a:srgbClr val="1A1B1D"/>
                </a:solidFill>
                <a:latin typeface="Poppins Light"/>
                <a:ea typeface="Poppins Light"/>
                <a:cs typeface="Poppins Light"/>
                <a:sym typeface="Poppins Light"/>
              </a:rPr>
              <a:t>WHERE prix = (SELECT MAX(prix) FROM produit);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7062"/>
            <a:ext cx="18288000" cy="5139938"/>
            <a:chOff x="0" y="0"/>
            <a:chExt cx="4816593" cy="135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3729"/>
            </a:xfrm>
            <a:custGeom>
              <a:avLst/>
              <a:gdLst/>
              <a:ahLst/>
              <a:cxnLst/>
              <a:rect r="r" b="b" t="t" l="l"/>
              <a:pathLst>
                <a:path h="1353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3729"/>
                  </a:lnTo>
                  <a:lnTo>
                    <a:pt x="0" y="1353729"/>
                  </a:lnTo>
                  <a:close/>
                </a:path>
              </a:pathLst>
            </a:custGeom>
            <a:solidFill>
              <a:srgbClr val="2428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334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9" id="9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REALLY GREAT COMPANY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2032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09090" y="1719795"/>
            <a:ext cx="104698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 SQL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95676" y="2705744"/>
            <a:ext cx="8896648" cy="4875511"/>
            <a:chOff x="0" y="0"/>
            <a:chExt cx="2343150" cy="12840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3150" cy="1284085"/>
            </a:xfrm>
            <a:custGeom>
              <a:avLst/>
              <a:gdLst/>
              <a:ahLst/>
              <a:cxnLst/>
              <a:rect r="r" b="b" t="t" l="l"/>
              <a:pathLst>
                <a:path h="1284085" w="2343150">
                  <a:moveTo>
                    <a:pt x="0" y="0"/>
                  </a:moveTo>
                  <a:lnTo>
                    <a:pt x="2343150" y="0"/>
                  </a:lnTo>
                  <a:lnTo>
                    <a:pt x="2343150" y="1284085"/>
                  </a:lnTo>
                  <a:lnTo>
                    <a:pt x="0" y="1284085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343150" cy="1265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95676" y="3757927"/>
            <a:ext cx="8896648" cy="2778270"/>
            <a:chOff x="0" y="0"/>
            <a:chExt cx="11862197" cy="370436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587919"/>
              <a:ext cx="11862197" cy="1564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b="true" sz="4500">
                  <a:solidFill>
                    <a:srgbClr val="FFB800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PAR TYPE, LE PRODUIT LE PLUS CHER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7625"/>
              <a:ext cx="11862197" cy="556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b="true" sz="3000">
                  <a:solidFill>
                    <a:srgbClr val="1A1B1D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REQUÊTES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64602" y="2142399"/>
              <a:ext cx="10932994" cy="1561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1"/>
                </a:lnSpc>
              </a:pPr>
              <a:r>
                <a:rPr lang="en-US" sz="1909">
                  <a:solidFill>
                    <a:srgbClr val="1A1B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SELECT t.libelle AS 'Catégorie', MAX(p.prix) AS 'Prix le plus élevé'</a:t>
              </a:r>
            </a:p>
            <a:p>
              <a:pPr algn="ctr">
                <a:lnSpc>
                  <a:spcPts val="2291"/>
                </a:lnSpc>
              </a:pPr>
              <a:r>
                <a:rPr lang="en-US" sz="1909">
                  <a:solidFill>
                    <a:srgbClr val="1A1B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FROM produit p</a:t>
              </a:r>
            </a:p>
            <a:p>
              <a:pPr algn="ctr">
                <a:lnSpc>
                  <a:spcPts val="2291"/>
                </a:lnSpc>
              </a:pPr>
              <a:r>
                <a:rPr lang="en-US" sz="1909">
                  <a:solidFill>
                    <a:srgbClr val="1A1B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JOIN typeProduit t ON p.id_type = t.id</a:t>
              </a:r>
            </a:p>
            <a:p>
              <a:pPr algn="ctr">
                <a:lnSpc>
                  <a:spcPts val="2291"/>
                </a:lnSpc>
              </a:pPr>
              <a:r>
                <a:rPr lang="en-US" sz="1909">
                  <a:solidFill>
                    <a:srgbClr val="1A1B1D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GROUP BY t.libelle;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7062"/>
            <a:ext cx="18288000" cy="5139938"/>
            <a:chOff x="0" y="0"/>
            <a:chExt cx="4816593" cy="135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3729"/>
            </a:xfrm>
            <a:custGeom>
              <a:avLst/>
              <a:gdLst/>
              <a:ahLst/>
              <a:cxnLst/>
              <a:rect r="r" b="b" t="t" l="l"/>
              <a:pathLst>
                <a:path h="1353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3729"/>
                  </a:lnTo>
                  <a:lnTo>
                    <a:pt x="0" y="1353729"/>
                  </a:lnTo>
                  <a:close/>
                </a:path>
              </a:pathLst>
            </a:custGeom>
            <a:solidFill>
              <a:srgbClr val="2428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334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9" id="9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REALLY GREAT COMPANY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2032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4264942"/>
            <a:ext cx="5229457" cy="1764241"/>
          </a:xfrm>
          <a:custGeom>
            <a:avLst/>
            <a:gdLst/>
            <a:ahLst/>
            <a:cxnLst/>
            <a:rect r="r" b="b" t="t" l="l"/>
            <a:pathLst>
              <a:path h="1764241" w="5229457">
                <a:moveTo>
                  <a:pt x="0" y="0"/>
                </a:moveTo>
                <a:lnTo>
                  <a:pt x="5229457" y="0"/>
                </a:lnTo>
                <a:lnTo>
                  <a:pt x="5229457" y="1764240"/>
                </a:lnTo>
                <a:lnTo>
                  <a:pt x="0" y="1764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087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756883" y="4116130"/>
            <a:ext cx="5901552" cy="3245378"/>
          </a:xfrm>
          <a:custGeom>
            <a:avLst/>
            <a:gdLst/>
            <a:ahLst/>
            <a:cxnLst/>
            <a:rect r="r" b="b" t="t" l="l"/>
            <a:pathLst>
              <a:path h="3245378" w="5901552">
                <a:moveTo>
                  <a:pt x="0" y="0"/>
                </a:moveTo>
                <a:lnTo>
                  <a:pt x="5901552" y="0"/>
                </a:lnTo>
                <a:lnTo>
                  <a:pt x="5901552" y="3245378"/>
                </a:lnTo>
                <a:lnTo>
                  <a:pt x="0" y="3245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50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57160" y="4261380"/>
            <a:ext cx="4102140" cy="1716489"/>
          </a:xfrm>
          <a:custGeom>
            <a:avLst/>
            <a:gdLst/>
            <a:ahLst/>
            <a:cxnLst/>
            <a:rect r="r" b="b" t="t" l="l"/>
            <a:pathLst>
              <a:path h="1716489" w="4102140">
                <a:moveTo>
                  <a:pt x="0" y="0"/>
                </a:moveTo>
                <a:lnTo>
                  <a:pt x="4102140" y="0"/>
                </a:lnTo>
                <a:lnTo>
                  <a:pt x="4102140" y="1716489"/>
                </a:lnTo>
                <a:lnTo>
                  <a:pt x="0" y="1716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943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09090" y="1719795"/>
            <a:ext cx="104698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 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83876" y="3251424"/>
            <a:ext cx="1519105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SOMME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9890" y="3251424"/>
            <a:ext cx="201162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GROUP BY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72992" y="3251424"/>
            <a:ext cx="87960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7062"/>
            <a:ext cx="18288000" cy="5139938"/>
            <a:chOff x="0" y="0"/>
            <a:chExt cx="4816593" cy="135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3729"/>
            </a:xfrm>
            <a:custGeom>
              <a:avLst/>
              <a:gdLst/>
              <a:ahLst/>
              <a:cxnLst/>
              <a:rect r="r" b="b" t="t" l="l"/>
              <a:pathLst>
                <a:path h="1353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3729"/>
                  </a:lnTo>
                  <a:lnTo>
                    <a:pt x="0" y="1353729"/>
                  </a:lnTo>
                  <a:close/>
                </a:path>
              </a:pathLst>
            </a:custGeom>
            <a:solidFill>
              <a:srgbClr val="2428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816593" cy="13346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FD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9" id="9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REALLY GREAT COMPANY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2032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88831" y="3795349"/>
            <a:ext cx="8510338" cy="4878891"/>
          </a:xfrm>
          <a:custGeom>
            <a:avLst/>
            <a:gdLst/>
            <a:ahLst/>
            <a:cxnLst/>
            <a:rect r="r" b="b" t="t" l="l"/>
            <a:pathLst>
              <a:path h="4878891" w="8510338">
                <a:moveTo>
                  <a:pt x="0" y="0"/>
                </a:moveTo>
                <a:lnTo>
                  <a:pt x="8510338" y="0"/>
                </a:lnTo>
                <a:lnTo>
                  <a:pt x="8510338" y="4878891"/>
                </a:lnTo>
                <a:lnTo>
                  <a:pt x="0" y="4878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1A1B1D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09090" y="1719795"/>
            <a:ext cx="104698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REQUÊTES 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09710" y="2764239"/>
            <a:ext cx="638386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TYPE, LE PRODUIT LE PLUS CHER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2685051" cy="1446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051" cy="1446825"/>
            </a:xfrm>
            <a:custGeom>
              <a:avLst/>
              <a:gdLst/>
              <a:ahLst/>
              <a:cxnLst/>
              <a:rect r="r" b="b" t="t" l="l"/>
              <a:pathLst>
                <a:path h="1446825" w="2685051">
                  <a:moveTo>
                    <a:pt x="0" y="0"/>
                  </a:moveTo>
                  <a:lnTo>
                    <a:pt x="2685051" y="0"/>
                  </a:lnTo>
                  <a:lnTo>
                    <a:pt x="2685051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0" t="-89273" r="0" b="-892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9" id="9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EFEF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EFEFE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REALLY GREAT COMPANY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EFEFE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2032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21930" y="3795183"/>
            <a:ext cx="14644140" cy="250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3. GESTION DES UTILISATEURS &amp; PRIVILÈGES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325742" y="2728857"/>
            <a:ext cx="11849991" cy="3551895"/>
          </a:xfrm>
          <a:custGeom>
            <a:avLst/>
            <a:gdLst/>
            <a:ahLst/>
            <a:cxnLst/>
            <a:rect r="r" b="b" t="t" l="l"/>
            <a:pathLst>
              <a:path h="3551895" w="11849991">
                <a:moveTo>
                  <a:pt x="0" y="0"/>
                </a:moveTo>
                <a:lnTo>
                  <a:pt x="11849991" y="0"/>
                </a:lnTo>
                <a:lnTo>
                  <a:pt x="11849991" y="3551895"/>
                </a:lnTo>
                <a:lnTo>
                  <a:pt x="0" y="3551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25742" y="6785577"/>
            <a:ext cx="12049239" cy="2244171"/>
          </a:xfrm>
          <a:custGeom>
            <a:avLst/>
            <a:gdLst/>
            <a:ahLst/>
            <a:cxnLst/>
            <a:rect r="r" b="b" t="t" l="l"/>
            <a:pathLst>
              <a:path h="2244171" w="12049239">
                <a:moveTo>
                  <a:pt x="0" y="0"/>
                </a:moveTo>
                <a:lnTo>
                  <a:pt x="12049239" y="0"/>
                </a:lnTo>
                <a:lnTo>
                  <a:pt x="12049239" y="2244171"/>
                </a:lnTo>
                <a:lnTo>
                  <a:pt x="0" y="2244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4867" y="1585856"/>
            <a:ext cx="1307826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GESTION DES UTILISATEURS &amp; PRIVILÈGES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2685051" cy="1446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051" cy="1446825"/>
            </a:xfrm>
            <a:custGeom>
              <a:avLst/>
              <a:gdLst/>
              <a:ahLst/>
              <a:cxnLst/>
              <a:rect r="r" b="b" t="t" l="l"/>
              <a:pathLst>
                <a:path h="1446825" w="2685051">
                  <a:moveTo>
                    <a:pt x="0" y="0"/>
                  </a:moveTo>
                  <a:lnTo>
                    <a:pt x="2685051" y="0"/>
                  </a:lnTo>
                  <a:lnTo>
                    <a:pt x="2685051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0" t="-89273" r="0" b="-8927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5106" y="4418542"/>
            <a:ext cx="12377788" cy="125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4.  TESTS DE DROITS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5728" y="660083"/>
            <a:ext cx="16836543" cy="368618"/>
            <a:chOff x="0" y="0"/>
            <a:chExt cx="22448725" cy="491490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48514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29712" y="6485535"/>
            <a:ext cx="11170376" cy="3002519"/>
          </a:xfrm>
          <a:custGeom>
            <a:avLst/>
            <a:gdLst/>
            <a:ahLst/>
            <a:cxnLst/>
            <a:rect r="r" b="b" t="t" l="l"/>
            <a:pathLst>
              <a:path h="3002519" w="11170376">
                <a:moveTo>
                  <a:pt x="0" y="0"/>
                </a:moveTo>
                <a:lnTo>
                  <a:pt x="11170376" y="0"/>
                </a:lnTo>
                <a:lnTo>
                  <a:pt x="11170376" y="3002518"/>
                </a:lnTo>
                <a:lnTo>
                  <a:pt x="0" y="3002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3" t="0" r="-3204" b="-6772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9712" y="4630542"/>
            <a:ext cx="8027410" cy="1022682"/>
          </a:xfrm>
          <a:custGeom>
            <a:avLst/>
            <a:gdLst/>
            <a:ahLst/>
            <a:cxnLst/>
            <a:rect r="r" b="b" t="t" l="l"/>
            <a:pathLst>
              <a:path h="1022682" w="8027410">
                <a:moveTo>
                  <a:pt x="0" y="0"/>
                </a:moveTo>
                <a:lnTo>
                  <a:pt x="8027409" y="0"/>
                </a:lnTo>
                <a:lnTo>
                  <a:pt x="8027409" y="1022683"/>
                </a:lnTo>
                <a:lnTo>
                  <a:pt x="0" y="1022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457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02303" y="3997898"/>
            <a:ext cx="8207279" cy="632644"/>
          </a:xfrm>
          <a:custGeom>
            <a:avLst/>
            <a:gdLst/>
            <a:ahLst/>
            <a:cxnLst/>
            <a:rect r="r" b="b" t="t" l="l"/>
            <a:pathLst>
              <a:path h="632644" w="8207279">
                <a:moveTo>
                  <a:pt x="0" y="0"/>
                </a:moveTo>
                <a:lnTo>
                  <a:pt x="8207279" y="0"/>
                </a:lnTo>
                <a:lnTo>
                  <a:pt x="8207279" y="632644"/>
                </a:lnTo>
                <a:lnTo>
                  <a:pt x="0" y="6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71656" y="4711864"/>
            <a:ext cx="6137926" cy="5433092"/>
          </a:xfrm>
          <a:custGeom>
            <a:avLst/>
            <a:gdLst/>
            <a:ahLst/>
            <a:cxnLst/>
            <a:rect r="r" b="b" t="t" l="l"/>
            <a:pathLst>
              <a:path h="5433092" w="6137926">
                <a:moveTo>
                  <a:pt x="0" y="0"/>
                </a:moveTo>
                <a:lnTo>
                  <a:pt x="6137926" y="0"/>
                </a:lnTo>
                <a:lnTo>
                  <a:pt x="6137926" y="5433092"/>
                </a:lnTo>
                <a:lnTo>
                  <a:pt x="0" y="54330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4867" y="1585856"/>
            <a:ext cx="1307826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TESTS DE DROITS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30694" y="3274357"/>
            <a:ext cx="4544748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UTILISATEUR : LECTEUR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21745" y="3050519"/>
            <a:ext cx="4637749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UTILISATEUR : API_USER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2685051" cy="1446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051" cy="1446825"/>
            </a:xfrm>
            <a:custGeom>
              <a:avLst/>
              <a:gdLst/>
              <a:ahLst/>
              <a:cxnLst/>
              <a:rect r="r" b="b" t="t" l="l"/>
              <a:pathLst>
                <a:path h="1446825" w="2685051">
                  <a:moveTo>
                    <a:pt x="0" y="0"/>
                  </a:moveTo>
                  <a:lnTo>
                    <a:pt x="2685051" y="0"/>
                  </a:lnTo>
                  <a:lnTo>
                    <a:pt x="2685051" y="1446825"/>
                  </a:lnTo>
                  <a:lnTo>
                    <a:pt x="0" y="1446825"/>
                  </a:lnTo>
                  <a:close/>
                </a:path>
              </a:pathLst>
            </a:custGeom>
            <a:blipFill>
              <a:blip r:embed="rId2"/>
              <a:stretch>
                <a:fillRect l="0" t="-11822" r="0" b="-118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FF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95704" y="4273645"/>
            <a:ext cx="12096591" cy="250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5. SAUVEGARDE / RESTAURATION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76936" y="9387996"/>
            <a:ext cx="432646" cy="424904"/>
            <a:chOff x="0" y="0"/>
            <a:chExt cx="113948" cy="111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948" cy="111909"/>
            </a:xfrm>
            <a:custGeom>
              <a:avLst/>
              <a:gdLst/>
              <a:ahLst/>
              <a:cxnLst/>
              <a:rect r="r" b="b" t="t" l="l"/>
              <a:pathLst>
                <a:path h="111909" w="113948">
                  <a:moveTo>
                    <a:pt x="0" y="0"/>
                  </a:moveTo>
                  <a:lnTo>
                    <a:pt x="113948" y="0"/>
                  </a:lnTo>
                  <a:lnTo>
                    <a:pt x="113948" y="111909"/>
                  </a:lnTo>
                  <a:lnTo>
                    <a:pt x="0" y="111909"/>
                  </a:lnTo>
                  <a:close/>
                </a:path>
              </a:pathLst>
            </a:custGeom>
            <a:solidFill>
              <a:srgbClr val="FFD2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3948" cy="9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728" y="722948"/>
            <a:ext cx="16836543" cy="305753"/>
            <a:chOff x="0" y="0"/>
            <a:chExt cx="22448725" cy="407670"/>
          </a:xfrm>
        </p:grpSpPr>
        <p:sp>
          <p:nvSpPr>
            <p:cNvPr name="AutoShape 6" id="6"/>
            <p:cNvSpPr/>
            <p:nvPr/>
          </p:nvSpPr>
          <p:spPr>
            <a:xfrm flipV="true">
              <a:off x="0" y="401320"/>
              <a:ext cx="22448725" cy="0"/>
            </a:xfrm>
            <a:prstGeom prst="line">
              <a:avLst/>
            </a:prstGeom>
            <a:ln cap="flat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500" b="true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R3.10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110989" y="19050"/>
              <a:ext cx="10337735" cy="280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55"/>
                </a:lnSpc>
              </a:pPr>
              <a:r>
                <a:rPr lang="en-US" b="true" sz="1500">
                  <a:solidFill>
                    <a:srgbClr val="FFFFFF"/>
                  </a:solidFill>
                  <a:latin typeface="Coco Gothic Bold"/>
                  <a:ea typeface="Coco Gothic Bold"/>
                  <a:cs typeface="Coco Gothic Bold"/>
                  <a:sym typeface="Coco Gothic Bold"/>
                </a:rPr>
                <a:t>2026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7893" y="3681357"/>
            <a:ext cx="16534379" cy="1012731"/>
          </a:xfrm>
          <a:custGeom>
            <a:avLst/>
            <a:gdLst/>
            <a:ahLst/>
            <a:cxnLst/>
            <a:rect r="r" b="b" t="t" l="l"/>
            <a:pathLst>
              <a:path h="1012731" w="16534379">
                <a:moveTo>
                  <a:pt x="0" y="0"/>
                </a:moveTo>
                <a:lnTo>
                  <a:pt x="16534379" y="0"/>
                </a:lnTo>
                <a:lnTo>
                  <a:pt x="16534379" y="1012731"/>
                </a:lnTo>
                <a:lnTo>
                  <a:pt x="0" y="101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7893" y="6596681"/>
            <a:ext cx="16534379" cy="888723"/>
          </a:xfrm>
          <a:custGeom>
            <a:avLst/>
            <a:gdLst/>
            <a:ahLst/>
            <a:cxnLst/>
            <a:rect r="r" b="b" t="t" l="l"/>
            <a:pathLst>
              <a:path h="888723" w="16534379">
                <a:moveTo>
                  <a:pt x="0" y="0"/>
                </a:moveTo>
                <a:lnTo>
                  <a:pt x="16534379" y="0"/>
                </a:lnTo>
                <a:lnTo>
                  <a:pt x="16534379" y="888723"/>
                </a:lnTo>
                <a:lnTo>
                  <a:pt x="0" y="888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76936" y="9507103"/>
            <a:ext cx="432646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"/>
              </a:lnSpc>
            </a:pPr>
            <a:r>
              <a:rPr lang="en-US" b="true" sz="1500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4867" y="1585856"/>
            <a:ext cx="1307826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4500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SAUVEGARDE / RESTAURATION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4475" y="2652657"/>
            <a:ext cx="5999824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CRÉATION DE LA SAUVEGARDE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56577" y="5345347"/>
            <a:ext cx="7075620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DF7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RESTAURATION DE LA SAUVEGARDE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8418" y="474099"/>
            <a:ext cx="17331164" cy="9338801"/>
            <a:chOff x="0" y="0"/>
            <a:chExt cx="4564586" cy="24596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4586" cy="2459602"/>
            </a:xfrm>
            <a:custGeom>
              <a:avLst/>
              <a:gdLst/>
              <a:ahLst/>
              <a:cxnLst/>
              <a:rect r="r" b="b" t="t" l="l"/>
              <a:pathLst>
                <a:path h="2459602" w="4564586">
                  <a:moveTo>
                    <a:pt x="0" y="0"/>
                  </a:moveTo>
                  <a:lnTo>
                    <a:pt x="4564586" y="0"/>
                  </a:lnTo>
                  <a:lnTo>
                    <a:pt x="4564586" y="2459602"/>
                  </a:lnTo>
                  <a:lnTo>
                    <a:pt x="0" y="24596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EFEF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4564586" cy="244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5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11391" y="4564857"/>
            <a:ext cx="5065219" cy="133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b="true" sz="9999">
                <a:solidFill>
                  <a:srgbClr val="FFD21B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MERCI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DAG-b7Rl_NE</dc:identifier>
  <dcterms:modified xsi:type="dcterms:W3CDTF">2011-08-01T06:04:30Z</dcterms:modified>
  <cp:revision>1</cp:revision>
  <dc:title>Présentation R3.10</dc:title>
</cp:coreProperties>
</file>